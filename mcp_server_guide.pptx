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Theme" Type="http://schemas.openxmlformats.org/officeDocument/2006/relationships/theme" Target="theme/theme1.xml"/>
  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  <Relationship Id="rIdSlide13" Type="http://schemas.openxmlformats.org/officeDocument/2006/relationships/slide" Target="slides/slide13.xml"/>
  <Relationship Id="rIdSlide14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/>
      <p:sp>
  <p:nvSpPr>
    <p:cNvPr id="2" name="bg"/>
    <p:cNvSpPr/>
    <p:nvPr/>
  </p:nvSpPr>
  <p:spPr>
    <a:xfrm><a:off x="0" y="0"/><a:ext cx="12192000" cy="6858000"/></a:xfrm>
    <a:prstGeom prst="rect"><a:avLst/></a:prstGeom>
    <a:solidFill><a:srgbClr val="0D1117"></a:srgbClr></a:solidFill>
    <a:ln><a:noFill/></a:ln>
  </p:spPr>
</p:sp><p:sp>
  <p:nvSpPr>
    <p:cNvPr id="3" name="stripe_top"/>
    <p:cNvSpPr/>
    <p:nvPr/>
  </p:nvSpPr>
  <p:spPr>
    <a:xfrm><a:off x="0" y="0"/><a:ext cx="12192000" cy="180000"/></a:xfrm>
    <a:prstGeom prst="rect"><a:avLst/></a:prstGeom>
    <a:solidFill><a:srgbClr val="00BFA6"></a:srgbClr></a:solidFill>
    <a:ln><a:noFill/></a:ln>
  </p:spPr>
</p:sp><p:sp>
  <p:nvSpPr>
    <p:cNvPr id="4" name="left_bar"/>
    <p:cNvSpPr/>
    <p:nvPr/>
  </p:nvSpPr>
  <p:spPr>
    <a:xfrm><a:off x="540000" y="1080000"/><a:ext cx="54000" cy="1800000"/></a:xfrm>
    <a:prstGeom prst="rect"><a:avLst/></a:prstGeom>
    <a:solidFill><a:srgbClr val="58A6FF"></a:srgbClr></a:solidFill>
    <a:ln><a:noFill/></a:ln>
  </p:spPr>
</p:sp><p:sp>
  <p:nvSpPr>
    <p:cNvPr id="5" name="diagram_box"/>
    <p:cNvSpPr/>
    <p:nvPr/>
  </p:nvSpPr>
  <p:spPr>
    <a:xfrm><a:off x="900000" y="792000"/><a:ext cx="1800000" cy="900000"/></a:xfrm>
    <a:prstGeom prst="roundRect"><a:avLst><a:gd name="adj" fmla="val 10000"/></a:avLst></a:prstGeom>
    <a:solidFill><a:srgbClr val="161B22"><a:alpha val="80000"/></a:srgbClr></a:solidFill>
    <a:ln><a:noFill/></a:ln>
  </p:spPr>
</p:sp><p:sp>
  <p:nvSpPr>
    <p:cNvPr id="6" name="diagram_text"/>
    <p:cNvSpPr/>
    <p:nvPr/>
  </p:nvSpPr>
  <p:spPr>
    <a:xfrm><a:off x="972000" y="900000"/><a:ext cx="1655999" cy="720000"/></a:xfrm>
    <a:prstGeom prst="rect"><a:avLst/></a:prstGeom>
  </p:spPr>
  <p:txBody><a:bodyPr wrap="square" anchor="ctr"/><a:lstStyle/><a:p><a:pPr algn="ctr"></a:pPr><a:r><a:rPr lang="ja-JP" sz="1300" b="1" dirty="0">
    <a:solidFill><a:srgbClr val="58A6FF"/></a:solidFill>
    <a:latin typeface="Consolas"/><a:ea typeface="Consolas"/>
  </a:rPr><a:t>AI Model</a:t></a:r></a:p><a:p><a:pPr algn="ctr"></a:pPr><a:r><a:rPr lang="ja-JP" sz="1300" dirty="0">
    <a:solidFill><a:srgbClr val="00BFA6"/></a:solidFill>
    <a:latin typeface="Consolas"/><a:ea typeface="Consolas"/>
  </a:rPr><a:t>  <-->  MCP  <--></a:t></a:r></a:p><a:p><a:pPr algn="ctr"></a:pPr><a:r><a:rPr lang="ja-JP" sz="1300" b="1" dirty="0">
    <a:solidFill><a:srgbClr val="F0883E"/></a:solidFill>
    <a:latin typeface="Consolas"/><a:ea typeface="Consolas"/>
  </a:rPr><a:t>External Tools</a:t></a:r></a:p></p:txBody>
</p:sp><p:sp>
  <p:nvSpPr>
    <p:cNvPr id="7" name="title"/>
    <p:cNvSpPr/>
    <p:nvPr/>
  </p:nvSpPr>
  <p:spPr>
    <a:xfrm><a:off x="1800000" y="1260000"/><a:ext cx="7200000" cy="1080000"/></a:xfrm>
    <a:prstGeom prst="rect"><a:avLst/></a:prstGeom>
  </p:spPr>
  <p:txBody><a:bodyPr wrap="square" anchor="ctr"/><a:lstStyle/><a:p><a:pPr algn="ctr"></a:pPr><a:r><a:rPr lang="ja-JP" sz="3600" b="1" dirty="0">
    <a:solidFill><a:srgbClr val="F0F6FC"/></a:solidFill>
    <a:latin typeface="Meiryo UI"/><a:ea typeface="Meiryo UI"/>
  </a:rPr><a:t>MCP サーバー 完全ガイド</a:t></a:r></a:p></p:txBody>
</p:sp><p:sp>
  <p:nvSpPr>
    <p:cNvPr id="8" name="subtitle"/>
    <p:cNvSpPr/>
    <p:nvPr/>
  </p:nvSpPr>
  <p:spPr>
    <a:xfrm><a:off x="1800000" y="2160000"/><a:ext cx="7200000" cy="720000"/></a:xfrm>
    <a:prstGeom prst="rect"><a:avLst/></a:prstGeom>
  </p:spPr>
  <p:txBody><a:bodyPr wrap="square" anchor="ctr"/><a:lstStyle/><a:p><a:pPr algn="ctr"></a:pPr><a:r><a:rPr lang="ja-JP" sz="1600" dirty="0">
    <a:solidFill><a:srgbClr val="00BFA6"/></a:solidFill>
    <a:latin typeface="Meiryo UI"/><a:ea typeface="Meiryo UI"/>
  </a:rPr><a:t>Model Context Protocol - AI と外部ツールをつなぐオープン規格</a:t></a:r></a:p></p:txBody>
</p:sp><p:sp>
  <p:nvSpPr>
    <p:cNvPr id="9" name="footer"/>
    <p:cNvSpPr/>
    <p:nvPr/>
  </p:nvSpPr>
  <p:spPr>
    <a:xfrm><a:off x="1800000" y="3240000"/><a:ext cx="7200000" cy="540000"/></a:xfrm>
    <a:prstGeom prst="rect"><a:avLst/></a:prstGeom>
  </p:spPr>
  <p:txBody><a:bodyPr wrap="square" anchor="ctr"/><a:lstStyle/><a:p><a:pPr algn="ctr"></a:pPr><a:r><a:rPr lang="ja-JP" sz="1200" dirty="0">
    <a:solidFill><a:srgbClr val="8B949E"/></a:solidFill>
    <a:latin typeface="Meiryo UI"/><a:ea typeface="Meiryo UI"/>
  </a:rPr><a:t>2026年版 | Anthropic MCP Specification</a:t></a:r></a:p></p:txBody>
</p:sp><p:sp>
  <p:nvSpPr>
    <p:cNvPr id="10" name="bottom_line"/>
    <p:cNvSpPr/>
    <p:nvPr/>
  </p:nvSpPr>
  <p:spPr>
    <a:xfrm><a:off x="2880000" y="3960000"/><a:ext cx="6480000" cy="36000"/></a:xfrm>
    <a:prstGeom prst="rect"><a:avLst/></a:prstGeom>
    <a:solidFill><a:srgbClr val="00BFA6"></a:srgbClr></a:solidFill>
    <a:ln><a:noFill/></a:ln>
  </p:spPr>
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とは何か？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定義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Model Context Protocol - AIモデルが外部データ・ツールに安全にアクセスするためのオープン規格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目的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LLMアプリケーションと外部データソース・ツール間の標準的なインターフェースを提供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例え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AI版の「USB-C」- どのAIもどのツールも同じ規格で接続できるユニバーサルな接続方式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開発元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Anthropicが策定しオープンソースで公開。業界全体での採用が進行中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2 / 14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03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のアーキテクチャ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Host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AIアプリケーション本体（Claude Desktop, IDE, カスタムアプリ等）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Client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Host内でMCPプロトコルを管理するコンポーネント（1サーバーに1クライアント）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Server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外部リソースやツールを公開するプログラム（ローカルまたはリモート実行）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Transport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stdio（ローカル）またはHTTP+SSE（リモート）で通信を実現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3 / 14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04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サーバーの3つの主要機能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1044000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10440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972000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Tools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AIが呼び出せる関数（API呼び出し、DB操作、ファイル処理等）- モデルが制御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304000"/>
            <a:ext cx="10800000" cy="1044000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304000"/>
            <a:ext cx="43200" cy="10440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376000"/>
            <a:ext cx="10080000" cy="972000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Resources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AIが参照できるデータソース（ファイル内容、DB結果等）- アプリが制御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456000"/>
            <a:ext cx="10800000" cy="1044000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456000"/>
            <a:ext cx="43200" cy="1044000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528000"/>
            <a:ext cx="10080000" cy="972000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Prompts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事前定義されたテンプレート（コードレビュー手順等）- ユーザーが制御</a:t>
            </a:r>
          </a:p>
        </p:txBody>
      </p:sp>
      <p:sp>
        <p:nvSpPr>
          <p:cNvPr id="16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7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4 / 14</a:t>
            </a:r>
          </a:p>
        </p:txBody>
      </p:sp>
    </p:spTree>
  </p:cSld>
</p:sld>
</file>

<file path=ppt/slides/slide5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/>
      <p:sp>
  <p:nvSpPr>
    <p:cNvPr id="2" name="bg"/>
    <p:cNvSpPr/>
    <p:nvPr/>
  </p:nvSpPr>
  <p:spPr>
    <a:xfrm><a:off x="0" y="0"/><a:ext cx="12192000" cy="6858000"/></a:xfrm>
    <a:prstGeom prst="rect"><a:avLst/></a:prstGeom>
    <a:solidFill><a:srgbClr val="0D1117"></a:srgbClr></a:solidFill>
    <a:ln><a:noFill/></a:ln>
  </p:spPr>
</p:sp><p:sp>
  <p:nvSpPr>
    <p:cNvPr id="3" name="header_bar"/>
    <p:cNvSpPr/>
    <p:nvPr/>
  </p:nvSpPr>
  <p:spPr>
    <a:xfrm><a:off x="0" y="0"/><a:ext cx="12192000" cy="900000"/></a:xfrm>
    <a:prstGeom prst="rect"><a:avLst/></a:prstGeom>
    <a:solidFill><a:srgbClr val="161B22"></a:srgbClr></a:solidFill>
    <a:ln><a:noFill/></a:ln>
  </p:spPr>
</p:sp><p:sp>
  <p:nvSpPr>
    <p:cNvPr id="4" name="accent_line"/>
    <p:cNvSpPr/>
    <p:nvPr/>
  </p:nvSpPr>
  <p:spPr>
    <a:xfrm><a:off x="0" y="900000"/><a:ext cx="12192000" cy="28800"/></a:xfrm>
    <a:prstGeom prst="rect"><a:avLst/></a:prstGeom>
    <a:solidFill><a:srgbClr val="00BFA6"></a:srgbClr></a:solidFill>
    <a:ln><a:noFill/></a:ln>
  </p:spPr>
</p:sp><p:sp>
  <p:nvSpPr>
    <p:cNvPr id="5" name="slide_num"/>
    <p:cNvSpPr/>
    <p:nvPr/>
  </p:nvSpPr>
  <p:spPr>
    <a:xfrm><a:off x="360000" y="108000"/><a:ext cx="720000" cy="540000"/></a:xfrm>
    <a:prstGeom prst="rect"><a:avLst/></a:prstGeom>
  </p:spPr>
  <p:txBody><a:bodyPr wrap="square" anchor="t"/><a:lstStyle/><a:p><a:pPr algn="l"></a:pPr><a:r><a:rPr lang="ja-JP" sz="1400" b="1" dirty="0">
    <a:solidFill><a:srgbClr val="00BFA6"/></a:solidFill>
    <a:latin typeface="Meiryo UI"/><a:ea typeface="Meiryo UI"/>
  </a:rPr><a:t>05</a:t></a:r></a:p></p:txBody>
</p:sp><p:sp>
  <p:nvSpPr>
    <p:cNvPr id="6" name="title"/>
    <p:cNvSpPr/>
    <p:nvPr/>
  </p:nvSpPr>
  <p:spPr>
    <a:xfrm><a:off x="1080000" y="144000"/><a:ext cx="10080000" cy="720000"/></a:xfrm>
    <a:prstGeom prst="rect"><a:avLst/></a:prstGeom>
  </p:spPr>
  <p:txBody><a:bodyPr wrap="square" anchor="t"/><a:lstStyle/><a:p><a:pPr algn="l"></a:pPr><a:r><a:rPr lang="ja-JP" sz="2800" b="1" dirty="0">
    <a:solidFill><a:srgbClr val="F0F6FC"/></a:solidFill>
    <a:latin typeface="Meiryo UI"/><a:ea typeface="Meiryo UI"/>
  </a:rPr><a:t>Claude Code での MCP 設定</a:t></a:r></a:p></p:txBody>
</p:sp><p:sp>
  <p:nvSpPr>
    <p:cNvPr id="7" name="card_0"/>
    <p:cNvSpPr/>
    <p:nvPr/>
  </p:nvSpPr>
  <p:spPr>
    <a:xfrm><a:off x="540000" y="1152000"/><a:ext cx="10800000" cy="899999"/></a:xfrm>
    <a:prstGeom prst="roundRect"><a:avLst><a:gd name="adj" fmla="val 10000"/></a:avLst></a:prstGeom>
    <a:solidFill><a:srgbClr val="1C2333"><a:alpha val="60000"/></a:srgbClr></a:solidFill>
    <a:ln><a:noFill/></a:ln>
  </p:spPr>
</p:sp><p:sp>
  <p:nvSpPr>
    <p:cNvPr id="8" name="bar_0"/>
    <p:cNvSpPr/>
    <p:nvPr/>
  </p:nvSpPr>
  <p:spPr>
    <a:xfrm><a:off x="540000" y="1152000"/><a:ext cx="43200" cy="899999"/></a:xfrm>
    <a:prstGeom prst="rect"><a:avLst/></a:prstGeom>
    <a:solidFill><a:srgbClr val="00BFA6"></a:srgbClr></a:solidFill>
    <a:ln><a:noFill/></a:ln>
  </p:spPr>
</p:sp><p:sp>
  <p:nvSpPr>
    <p:cNvPr id="9" name="text_0"/>
    <p:cNvSpPr/>
    <p:nvPr/>
  </p:nvSpPr>
  <p:spPr>
    <a:xfrm><a:off x="900000" y="1224000"/><a:ext cx="10080000" cy="827999"/></a:xfrm>
    <a:prstGeom prst="rect"><a:avLst/></a:prstGeom>
  </p:spPr>
  <p:txBody><a:bodyPr wrap="square" anchor="ctr"/><a:lstStyle/><a:p><a:pPr algn="l"><a:spcBef><a:spcPts val="200"/></a:spcBef></a:pPr><a:r><a:rPr lang="ja-JP" sz="1600" b="1" dirty="0">
    <a:solidFill><a:srgbClr val="00BFA6"/></a:solidFill>
    <a:latin typeface="Meiryo UI"/><a:ea typeface="Meiryo UI"/>
  </a:rPr><a:t>追加コマンド    </a:t></a:r><a:r><a:rPr lang="ja-JP" sz="1400" dirty="0">
    <a:solidFill><a:srgbClr val="C9D1D9"/></a:solidFill>
    <a:latin typeface="Meiryo UI"/><a:ea typeface="Meiryo UI"/>
  </a:rPr><a:t>claude mcp add <name> <command> [args] でサーバーを登録</a:t></a:r></a:p></p:txBody>
</p:sp><p:sp>
  <p:nvSpPr>
    <p:cNvPr id="10" name="card_1"/>
    <p:cNvSpPr/>
    <p:nvPr/>
  </p:nvSpPr>
  <p:spPr>
    <a:xfrm><a:off x="540000" y="2159999"/><a:ext cx="10800000" cy="899999"/></a:xfrm>
    <a:prstGeom prst="roundRect"><a:avLst><a:gd name="adj" fmla="val 10000"/></a:avLst></a:prstGeom>
    <a:solidFill><a:srgbClr val="1C2333"><a:alpha val="60000"/></a:srgbClr></a:solidFill>
    <a:ln><a:noFill/></a:ln>
  </p:spPr>
</p:sp><p:sp>
  <p:nvSpPr>
    <p:cNvPr id="11" name="bar_1"/>
    <p:cNvSpPr/>
    <p:nvPr/>
  </p:nvSpPr>
  <p:spPr>
    <a:xfrm><a:off x="540000" y="2159999"/><a:ext cx="43200" cy="899999"/></a:xfrm>
    <a:prstGeom prst="rect"><a:avLst/></a:prstGeom>
    <a:solidFill><a:srgbClr val="58A6FF"></a:srgbClr></a:solidFill>
    <a:ln><a:noFill/></a:ln>
  </p:spPr>
</p:sp><p:sp>
  <p:nvSpPr>
    <p:cNvPr id="12" name="text_1"/>
    <p:cNvSpPr/>
    <p:nvPr/>
  </p:nvSpPr>
  <p:spPr>
    <a:xfrm><a:off x="900000" y="2231999"/><a:ext cx="10080000" cy="827999"/></a:xfrm>
    <a:prstGeom prst="rect"><a:avLst/></a:prstGeom>
  </p:spPr>
  <p:txBody><a:bodyPr wrap="square" anchor="ctr"/><a:lstStyle/><a:p><a:pPr algn="l"><a:spcBef><a:spcPts val="200"/></a:spcBef></a:pPr><a:r><a:rPr lang="ja-JP" sz="1600" b="1" dirty="0">
    <a:solidFill><a:srgbClr val="58A6FF"/></a:solidFill>
    <a:latin typeface="Meiryo UI"/><a:ea typeface="Meiryo UI"/>
  </a:rPr><a:t>スコープ    </a:t></a:r><a:r><a:rPr lang="ja-JP" sz="1400" dirty="0">
    <a:solidFill><a:srgbClr val="C9D1D9"/></a:solidFill>
    <a:latin typeface="Meiryo UI"/><a:ea typeface="Meiryo UI"/>
  </a:rPr><a:t>-s project（プロジェクト単位）/ -s user（ユーザー単位）を指定</a:t></a:r></a:p></p:txBody>
</p:sp><p:sp>
  <p:nvSpPr>
    <p:cNvPr id="13" name="card_2"/>
    <p:cNvSpPr/>
    <p:nvPr/>
  </p:nvSpPr>
  <p:spPr>
    <a:xfrm><a:off x="540000" y="3167998"/><a:ext cx="10800000" cy="899999"/></a:xfrm>
    <a:prstGeom prst="roundRect"><a:avLst><a:gd name="adj" fmla="val 10000"/></a:avLst></a:prstGeom>
    <a:solidFill><a:srgbClr val="1C2333"><a:alpha val="60000"/></a:srgbClr></a:solidFill>
    <a:ln><a:noFill/></a:ln>
  </p:spPr>
</p:sp><p:sp>
  <p:nvSpPr>
    <p:cNvPr id="14" name="bar_2"/>
    <p:cNvSpPr/>
    <p:nvPr/>
  </p:nvSpPr>
  <p:spPr>
    <a:xfrm><a:off x="540000" y="3167998"/><a:ext cx="43200" cy="899999"/></a:xfrm>
    <a:prstGeom prst="rect"><a:avLst/></a:prstGeom>
    <a:solidFill><a:srgbClr val="BC8CFF"></a:srgbClr></a:solidFill>
    <a:ln><a:noFill/></a:ln>
  </p:spPr>
</p:sp><p:sp>
  <p:nvSpPr>
    <p:cNvPr id="15" name="text_2"/>
    <p:cNvSpPr/>
    <p:nvPr/>
  </p:nvSpPr>
  <p:spPr>
    <a:xfrm><a:off x="900000" y="3239998"/><a:ext cx="10080000" cy="827999"/></a:xfrm>
    <a:prstGeom prst="rect"><a:avLst/></a:prstGeom>
  </p:spPr>
  <p:txBody><a:bodyPr wrap="square" anchor="ctr"/><a:lstStyle/><a:p><a:pPr algn="l"><a:spcBef><a:spcPts val="200"/></a:spcBef></a:pPr><a:r><a:rPr lang="ja-JP" sz="1600" b="1" dirty="0">
    <a:solidFill><a:srgbClr val="BC8CFF"/></a:solidFill>
    <a:latin typeface="Meiryo UI"/><a:ea typeface="Meiryo UI"/>
  </a:rPr><a:t>一覧確認    </a:t></a:r><a:r><a:rPr lang="ja-JP" sz="1400" dirty="0">
    <a:solidFill><a:srgbClr val="C9D1D9"/></a:solidFill>
    <a:latin typeface="Meiryo UI"/><a:ea typeface="Meiryo UI"/>
  </a:rPr><a:t>claude mcp list で登録済みサーバーの一覧を表示</a:t></a:r></a:p></p:txBody>
</p:sp><p:sp>
  <p:nvSpPr>
    <p:cNvPr id="16" name="card_3"/>
    <p:cNvSpPr/>
    <p:nvPr/>
  </p:nvSpPr>
  <p:spPr>
    <a:xfrm><a:off x="540000" y="4175997"/><a:ext cx="10800000" cy="899999"/></a:xfrm>
    <a:prstGeom prst="roundRect"><a:avLst><a:gd name="adj" fmla="val 10000"/></a:avLst></a:prstGeom>
    <a:solidFill><a:srgbClr val="1C2333"><a:alpha val="60000"/></a:srgbClr></a:solidFill>
    <a:ln><a:noFill/></a:ln>
  </p:spPr>
</p:sp><p:sp>
  <p:nvSpPr>
    <p:cNvPr id="17" name="bar_3"/>
    <p:cNvSpPr/>
    <p:nvPr/>
  </p:nvSpPr>
  <p:spPr>
    <a:xfrm><a:off x="540000" y="4175997"/><a:ext cx="43200" cy="899999"/></a:xfrm>
    <a:prstGeom prst="rect"><a:avLst/></a:prstGeom>
    <a:solidFill><a:srgbClr val="F0883E"></a:srgbClr></a:solidFill>
    <a:ln><a:noFill/></a:ln>
  </p:spPr>
</p:sp><p:sp>
  <p:nvSpPr>
    <p:cNvPr id="18" name="text_3"/>
    <p:cNvSpPr/>
    <p:nvPr/>
  </p:nvSpPr>
  <p:spPr>
    <a:xfrm><a:off x="900000" y="4247997"/><a:ext cx="10080000" cy="827999"/></a:xfrm>
    <a:prstGeom prst="rect"><a:avLst/></a:prstGeom>
  </p:spPr>
  <p:txBody><a:bodyPr wrap="square" anchor="ctr"/><a:lstStyle/><a:p><a:pPr algn="l"><a:spcBef><a:spcPts val="200"/></a:spcBef></a:pPr><a:r><a:rPr lang="ja-JP" sz="1600" b="1" dirty="0">
    <a:solidFill><a:srgbClr val="F0883E"/></a:solidFill>
    <a:latin typeface="Meiryo UI"/><a:ea typeface="Meiryo UI"/>
  </a:rPr><a:t>削除    </a:t></a:r><a:r><a:rPr lang="ja-JP" sz="1400" dirty="0">
    <a:solidFill><a:srgbClr val="C9D1D9"/></a:solidFill>
    <a:latin typeface="Meiryo UI"/><a:ea typeface="Meiryo UI"/>
  </a:rPr><a:t>claude mcp remove <name> で不要なサーバーを削除</a:t></a:r></a:p></p:txBody>
</p:sp><p:sp>
  <p:nvSpPr>
    <p:cNvPr id="19" name="footer_line"/>
    <p:cNvSpPr/>
    <p:nvPr/>
  </p:nvSpPr>
  <p:spPr>
    <a:xfrm><a:off x="540000" y="6498000"/><a:ext cx="10800000" cy="18000"/></a:xfrm>
    <a:prstGeom prst="rect"><a:avLst/></a:prstGeom>
    <a:solidFill><a:srgbClr val="161B22"></a:srgbClr></a:solidFill>
    <a:ln><a:noFill/></a:ln>
  </p:spPr>
</p:sp><p:sp>
  <p:nvSpPr>
    <p:cNvPr id="20" name="page_num"/>
    <p:cNvSpPr/>
    <p:nvPr/>
  </p:nvSpPr>
  <p:spPr>
    <a:xfrm><a:off x="9720000" y="6534000"/><a:ext cx="1800000" cy="288000"/></a:xfrm>
    <a:prstGeom prst="rect"><a:avLst/></a:prstGeom>
  </p:spPr>
  <p:txBody><a:bodyPr wrap="square" anchor="t"/><a:lstStyle/><a:p><a:pPr algn="r"></a:pPr><a:r><a:rPr lang="ja-JP" sz="1000" dirty="0">
    <a:solidFill><a:srgbClr val="8B949E"/></a:solidFill>
    <a:latin typeface="Meiryo UI"/><a:ea typeface="Meiryo UI"/>
  </a:rPr><a:t>5 / 14</a:t></a:r></a:p></p:txBody>
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06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代表的な MCP サーバー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Filesystem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ローカルファイルの読み書き・検索を安全なサンドボックスで提供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GitHub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リポジトリ操作・Issue/PR管理・コード検索をAIから直接実行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PostgreSQL / SQLite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データベースへの読み取り専用アクセスやスキーマ解析を提供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Slack / Google Drive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チームコミュニケーションやドキュメント管理との連携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6 / 14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07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サーバーの自作方法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SDK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Python SDK / TypeScript SDK が公式提供。pip install mcp または npm install @modelcontextprotocol/sdk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ツール定義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@server.tool() デコレータで関数を定義するだけでAIが呼び出し可能に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型安全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入力パラメータはJSON Schemaで定義。バリデーションが自動で実行される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起動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stdio トランスポートで起動し、Claude Code から即座に利用可能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7 / 14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08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Python での実装例</a:t>
            </a:r>
          </a:p>
        </p:txBody>
      </p:sp>
      <p:sp>
        <p:nvSpPr>
          <p:cNvPr id="7" name="code_bg"/>
          <p:cNvSpPr/>
          <p:nvPr/>
        </p:nvSpPr>
        <p:spPr>
          <a:xfrm>
            <a:off x="720000" y="1152000"/>
            <a:ext cx="10440000" cy="3420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8" name="code_border_top"/>
          <p:cNvSpPr/>
          <p:nvPr/>
        </p:nvSpPr>
        <p:spPr>
          <a:xfrm>
            <a:off x="720000" y="1152000"/>
            <a:ext cx="10440000" cy="216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9" name="code_border_left"/>
          <p:cNvSpPr/>
          <p:nvPr/>
        </p:nvSpPr>
        <p:spPr>
          <a:xfrm>
            <a:off x="720000" y="1152000"/>
            <a:ext cx="21600" cy="34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0" name="dots"/>
          <p:cNvSpPr/>
          <p:nvPr/>
        </p:nvSpPr>
        <p:spPr>
          <a:xfrm>
            <a:off x="900000" y="1224000"/>
            <a:ext cx="1080000" cy="216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000" dirty="0">
                <a:solidFill>
                  <a:srgbClr val="F85149"/>
                </a:solidFill>
                <a:latin typeface="Consolas"/>
                <a:ea typeface="Consolas"/>
              </a:rPr>
              <a:t>  </a:t>
            </a:r>
          </a:p>
        </p:txBody>
      </p:sp>
      <p:sp>
        <p:nvSpPr>
          <p:cNvPr id="11" name="file_label"/>
          <p:cNvSpPr/>
          <p:nvPr/>
        </p:nvSpPr>
        <p:spPr>
          <a:xfrm>
            <a:off x="4320000" y="1224000"/>
            <a:ext cx="2880000" cy="216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ja-JP" sz="1000" dirty="0">
                <a:solidFill>
                  <a:srgbClr val="8B949E"/>
                </a:solidFill>
                <a:latin typeface="Consolas"/>
                <a:ea typeface="Consolas"/>
              </a:rPr>
              <a:t>server.py</a:t>
            </a:r>
          </a:p>
        </p:txBody>
      </p:sp>
      <p:sp>
        <p:nvSpPr>
          <p:cNvPr id="12" name="code_text"/>
          <p:cNvSpPr/>
          <p:nvPr/>
        </p:nvSpPr>
        <p:spPr>
          <a:xfrm>
            <a:off x="1080000" y="1512000"/>
            <a:ext cx="9720000" cy="288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BC8CFF"/>
                </a:solidFill>
                <a:latin typeface="Consolas"/>
                <a:ea typeface="Consolas"/>
              </a:rPr>
              <a:t>from mcp.server.fastmcp import FastMCP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C9D1D9"/>
                </a:solidFill>
                <a:latin typeface="Consolas"/>
                <a:ea typeface="Consolas"/>
              </a:rPr>
              <a:t> 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58A6FF"/>
                </a:solidFill>
                <a:latin typeface="Consolas"/>
                <a:ea typeface="Consolas"/>
              </a:rPr>
              <a:t>server = FastMCP('my-server')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C9D1D9"/>
                </a:solidFill>
                <a:latin typeface="Consolas"/>
                <a:ea typeface="Consolas"/>
              </a:rPr>
              <a:t> 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F0883E"/>
                </a:solidFill>
                <a:latin typeface="Consolas"/>
                <a:ea typeface="Consolas"/>
              </a:rPr>
              <a:t>@server.tool()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00BFA6"/>
                </a:solidFill>
                <a:latin typeface="Consolas"/>
                <a:ea typeface="Consolas"/>
              </a:rPr>
              <a:t>async def get_weather(city: str) -&gt; str: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3FB950"/>
                </a:solidFill>
                <a:latin typeface="Consolas"/>
                <a:ea typeface="Consolas"/>
              </a:rPr>
              <a:t>    '''指定都市の天気を取得'''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C9D1D9"/>
                </a:solidFill>
                <a:latin typeface="Consolas"/>
                <a:ea typeface="Consolas"/>
              </a:rPr>
              <a:t>    return f'{city}の天気: 晴れ 25°C'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C9D1D9"/>
                </a:solidFill>
                <a:latin typeface="Consolas"/>
                <a:ea typeface="Consolas"/>
              </a:rPr>
              <a:t> </a:t>
            </a:r>
          </a:p>
          <a:p>
            <a:pPr algn="l">
              <a:spcBef>
                <a:spcPts val="50"/>
              </a:spcBef>
            </a:pPr>
            <a:r>
              <a:rPr lang="ja-JP" sz="1300" dirty="0">
                <a:solidFill>
                  <a:srgbClr val="58A6FF"/>
                </a:solidFill>
                <a:latin typeface="Consolas"/>
                <a:ea typeface="Consolas"/>
              </a:rPr>
              <a:t>server.run(transport='stdio')</a:t>
            </a:r>
          </a:p>
        </p:txBody>
      </p:sp>
      <p:sp>
        <p:nvSpPr>
          <p:cNvPr id="13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4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8 / 14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09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トランスポートの種類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stdio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標準入出力で通信。ローカル実行に最適。セットアップが簡単で低レイテンシ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HTTP+SSE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Server-Sent Events で通信。リモートサーバーに対応。複数クライアント接続可能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Streamable HTTP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最新の推奨方式。HTTP POST/GETベースでステートレスにもステートフルにも対応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選択基準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ローカル→stdio / リモート→HTTP / 本番運用→Streamable HTTP が推奨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9 / 14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10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セキュリティと権限管理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最小権限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サーバーごとに必要最小限の権限だけを付与する原則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入力検証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すべてのパラメータをサーバー側で検証。インジェクション攻撃を防止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サンドボックス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ファイルアクセスやネットワーク通信を制限された範囲内で実行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ユーザー同意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ツール実行前にユーザーの明示的な承認を要求（Human-in-the-loop）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10 / 14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11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の活用パターン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開発ワークフロー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GitHub + CI/CD + DB を連携し、Issue対応からデプロイまでAI駆動で実行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データ分析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DB + スプレッドシート + 可視化ツールを接続し、自然言語で分析指示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業務自動化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Slack + カレンダー + メール + CRM を統合し、日常業務をAIが支援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ナレッジ管理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社内Wiki + ドキュメント + コードベースを横断的にAIが検索・参照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11 / 14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12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エコシステム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公式レジストリ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github.com/modelcontextprotocol/servers に公式・コミュニティサーバー集約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対応クライアント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Claude Desktop / Claude Code / Cursor / Zed / Sourcegraph 等が対応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SDK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Python / TypeScript / Java / Kotlin / C# / Swift / Go 等多言語に対応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コミュニティ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オープンソースで急速に成長。毎月新しいサーバーやツールが公開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12 / 14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00BFA6"/>
                </a:solidFill>
                <a:latin typeface="Meiryo UI"/>
                <a:ea typeface="Meiryo UI"/>
              </a:rPr>
              <a:t>13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0F6FC"/>
                </a:solidFill>
                <a:latin typeface="Meiryo UI"/>
                <a:ea typeface="Meiryo UI"/>
              </a:rPr>
              <a:t>MCP サーバー開発のベストプラクティス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BFA6"/>
                </a:solidFill>
                <a:latin typeface="Meiryo UI"/>
                <a:ea typeface="Meiryo UI"/>
              </a:rPr>
              <a:t>ツール設計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1ツール1機能の原則。明確な名前と詳細な説明文でAIの理解を助ける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58A6FF"/>
                </a:solidFill>
                <a:latin typeface="Meiryo UI"/>
                <a:ea typeface="Meiryo UI"/>
              </a:rPr>
              <a:t>エラー処理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is_error フラグ付きの構造化エラー応答。AIが適切にリカバリ可能に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BC8CFF"/>
                </a:solidFill>
                <a:latin typeface="Meiryo UI"/>
                <a:ea typeface="Meiryo UI"/>
              </a:rPr>
              <a:t>テスト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MCP Inspector ツールで動作確認。単体テストとE2Eテストを組み合わせる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C2333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0883E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0883E"/>
                </a:solidFill>
                <a:latin typeface="Meiryo UI"/>
                <a:ea typeface="Meiryo UI"/>
              </a:rPr>
              <a:t>ドキュメント    </a:t>
            </a:r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各ツール・リソースの用途を詳細に記述。AIがいつ使うべきか判断できるように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8B949E"/>
                </a:solidFill>
                <a:latin typeface="Meiryo UI"/>
                <a:ea typeface="Meiryo UI"/>
              </a:rPr>
              <a:t>13 / 14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top_accent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4" name="title_bg"/>
          <p:cNvSpPr/>
          <p:nvPr/>
        </p:nvSpPr>
        <p:spPr>
          <a:xfrm>
            <a:off x="0" y="36000"/>
            <a:ext cx="121920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720000" y="108000"/>
            <a:ext cx="10440000" cy="72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3200" b="1" dirty="0">
                <a:solidFill>
                  <a:srgbClr val="F0F6FC"/>
                </a:solidFill>
                <a:latin typeface="Meiryo UI"/>
                <a:ea typeface="Meiryo UI"/>
              </a:rPr>
              <a:t>まとめ</a:t>
            </a:r>
          </a:p>
        </p:txBody>
      </p:sp>
      <p:sp>
        <p:nvSpPr>
          <p:cNvPr id="6" name="accent_line"/>
          <p:cNvSpPr/>
          <p:nvPr/>
        </p:nvSpPr>
        <p:spPr>
          <a:xfrm>
            <a:off x="0" y="936000"/>
            <a:ext cx="12192000" cy="28800"/>
          </a:xfrm>
          <a:prstGeom prst="rect">
            <a:avLst/>
          </a:prstGeom>
          <a:solidFill>
            <a:srgbClr val="00BFA6"/>
          </a:solidFill>
          <a:ln>
            <a:noFill/>
          </a:ln>
        </p:spPr>
      </p:sp>
      <p:sp>
        <p:nvSpPr>
          <p:cNvPr id="7" name="num_0"/>
          <p:cNvSpPr/>
          <p:nvPr/>
        </p:nvSpPr>
        <p:spPr>
          <a:xfrm>
            <a:off x="720000" y="126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00BFA6"/>
          </a:solidFill>
          <a:ln>
            <a:noFill/>
          </a:ln>
        </p:spPr>
      </p:sp>
      <p:sp>
        <p:nvSpPr>
          <p:cNvPr id="8" name="num_text_0"/>
          <p:cNvSpPr/>
          <p:nvPr/>
        </p:nvSpPr>
        <p:spPr>
          <a:xfrm>
            <a:off x="720000" y="126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D1117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9" name="point_0"/>
          <p:cNvSpPr/>
          <p:nvPr/>
        </p:nvSpPr>
        <p:spPr>
          <a:xfrm>
            <a:off x="1260000" y="126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MCPはAIと外部ツール・データを接続するオープンな標準プロトコル</a:t>
            </a:r>
          </a:p>
        </p:txBody>
      </p:sp>
      <p:sp>
        <p:nvSpPr>
          <p:cNvPr id="10" name="num_1"/>
          <p:cNvSpPr/>
          <p:nvPr/>
        </p:nvSpPr>
        <p:spPr>
          <a:xfrm>
            <a:off x="720000" y="198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11" name="num_text_1"/>
          <p:cNvSpPr/>
          <p:nvPr/>
        </p:nvSpPr>
        <p:spPr>
          <a:xfrm>
            <a:off x="720000" y="198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D1117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2" name="point_1"/>
          <p:cNvSpPr/>
          <p:nvPr/>
        </p:nvSpPr>
        <p:spPr>
          <a:xfrm>
            <a:off x="1260000" y="198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Tools / Resources / Prompts の3機能でAIの能力を大幅に拡張</a:t>
            </a:r>
          </a:p>
        </p:txBody>
      </p:sp>
      <p:sp>
        <p:nvSpPr>
          <p:cNvPr id="13" name="num_2"/>
          <p:cNvSpPr/>
          <p:nvPr/>
        </p:nvSpPr>
        <p:spPr>
          <a:xfrm>
            <a:off x="720000" y="270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14" name="num_text_2"/>
          <p:cNvSpPr/>
          <p:nvPr/>
        </p:nvSpPr>
        <p:spPr>
          <a:xfrm>
            <a:off x="720000" y="270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D1117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15" name="point_2"/>
          <p:cNvSpPr/>
          <p:nvPr/>
        </p:nvSpPr>
        <p:spPr>
          <a:xfrm>
            <a:off x="1260000" y="270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Python / TypeScript SDKで簡単にカスタムサーバーを構築可能</a:t>
            </a:r>
          </a:p>
        </p:txBody>
      </p:sp>
      <p:sp>
        <p:nvSpPr>
          <p:cNvPr id="16" name="num_3"/>
          <p:cNvSpPr/>
          <p:nvPr/>
        </p:nvSpPr>
        <p:spPr>
          <a:xfrm>
            <a:off x="720000" y="342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F0883E"/>
          </a:solidFill>
          <a:ln>
            <a:noFill/>
          </a:ln>
        </p:spPr>
      </p:sp>
      <p:sp>
        <p:nvSpPr>
          <p:cNvPr id="17" name="num_text_3"/>
          <p:cNvSpPr/>
          <p:nvPr/>
        </p:nvSpPr>
        <p:spPr>
          <a:xfrm>
            <a:off x="720000" y="342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D1117"/>
                </a:solidFill>
                <a:latin typeface="Meiryo UI"/>
                <a:ea typeface="Meiryo UI"/>
              </a:rPr>
              <a:t>4</a:t>
            </a:r>
          </a:p>
        </p:txBody>
      </p:sp>
      <p:sp>
        <p:nvSpPr>
          <p:cNvPr id="18" name="point_3"/>
          <p:cNvSpPr/>
          <p:nvPr/>
        </p:nvSpPr>
        <p:spPr>
          <a:xfrm>
            <a:off x="1260000" y="342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セキュリティを重視した設計：最小権限・入力検証・ユーザー同意</a:t>
            </a:r>
          </a:p>
        </p:txBody>
      </p:sp>
      <p:sp>
        <p:nvSpPr>
          <p:cNvPr id="19" name="num_4"/>
          <p:cNvSpPr/>
          <p:nvPr/>
        </p:nvSpPr>
        <p:spPr>
          <a:xfrm>
            <a:off x="720000" y="414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20" name="num_text_4"/>
          <p:cNvSpPr/>
          <p:nvPr/>
        </p:nvSpPr>
        <p:spPr>
          <a:xfrm>
            <a:off x="720000" y="414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D1117"/>
                </a:solidFill>
                <a:latin typeface="Meiryo UI"/>
                <a:ea typeface="Meiryo UI"/>
              </a:rPr>
              <a:t>5</a:t>
            </a:r>
          </a:p>
        </p:txBody>
      </p:sp>
      <p:sp>
        <p:nvSpPr>
          <p:cNvPr id="21" name="point_4"/>
          <p:cNvSpPr/>
          <p:nvPr/>
        </p:nvSpPr>
        <p:spPr>
          <a:xfrm>
            <a:off x="1260000" y="414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C9D1D9"/>
                </a:solidFill>
                <a:latin typeface="Meiryo UI"/>
                <a:ea typeface="Meiryo UI"/>
              </a:rPr>
              <a:t>活発なエコシステムが急成長中。開発・分析・業務自動化に幅広く活用</a:t>
            </a:r>
          </a:p>
        </p:txBody>
      </p:sp>
      <p:sp>
        <p:nvSpPr>
          <p:cNvPr id="22" name="bottom_bar"/>
          <p:cNvSpPr/>
          <p:nvPr/>
        </p:nvSpPr>
        <p:spPr>
          <a:xfrm>
            <a:off x="0" y="6426000"/>
            <a:ext cx="12192000" cy="43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3" name="footer_text"/>
          <p:cNvSpPr/>
          <p:nvPr/>
        </p:nvSpPr>
        <p:spPr>
          <a:xfrm>
            <a:off x="720000" y="6462000"/>
            <a:ext cx="10440000" cy="36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0BFA6"/>
                </a:solidFill>
                <a:latin typeface="Meiryo UI"/>
                <a:ea typeface="Meiryo UI"/>
              </a:rPr>
              <a:t>MCP</a:t>
            </a:r>
            <a:r>
              <a:rPr lang="ja-JP" sz="1200" dirty="0">
                <a:solidFill>
                  <a:srgbClr val="8B949E"/>
                </a:solidFill>
                <a:latin typeface="Meiryo UI"/>
                <a:ea typeface="Meiryo UI"/>
              </a:rPr>
              <a:t>  -  Connecting AI to the world</a:t>
            </a:r>
          </a:p>
        </p:txBody>
      </p:sp>
    </p:spTree>
  </p:cSld>
</p:sld>
</file>

<file path=ppt/theme/theme1.xml><?xml version="1.0" encoding="utf-8"?>
<a:theme xmlns:a="http://schemas.openxmlformats.org/drawingml/2006/main" name="MCPTheme">
  <a:themeElements>
    <a:clrScheme name="MCP">
      <a:dk1>
        <a:srgbClr val="0D1117"/>
      </a:dk1>
      <a:lt1>
        <a:srgbClr val="F0F6FC"/>
      </a:lt1>
      <a:dk2>
        <a:srgbClr val="161B22"/>
      </a:dk2>
      <a:lt2>
        <a:srgbClr val="C9D1D9"/>
      </a:lt2>
      <a:accent1>
        <a:srgbClr val="00BFA6"/>
      </a:accent1>
      <a:accent2>
        <a:srgbClr val="58A6FF"/>
      </a:accent2>
      <a:accent3>
        <a:srgbClr val="BC8CFF"/>
      </a:accent3>
      <a:accent4>
        <a:srgbClr val="F0883E"/>
      </a:accent4>
      <a:accent5>
        <a:srgbClr val="F7C948"/>
      </a:accent5>
      <a:accent6>
        <a:srgbClr val="3FB950"/>
      </a:accent6>
      <a:hlink>
        <a:srgbClr val="58A6FF"/>
      </a:hlink>
      <a:folHlink>
        <a:srgbClr val="BC8CFF"/>
      </a:folHlink>
    </a:clrScheme>
    <a:fontScheme name="MCP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