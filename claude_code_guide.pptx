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PresProps" Type="http://schemas.openxmlformats.org/officeDocument/2006/relationships/presProps" Target="presProps.xml"/>
  <Relationship Id="rIdTheme" Type="http://schemas.openxmlformats.org/officeDocument/2006/relationships/theme" Target="theme/theme1.xml"/>
  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  <Relationship Id="rIdSlide13" Type="http://schemas.openxmlformats.org/officeDocument/2006/relationships/slide" Target="slides/slide13.xml"/>
  <Relationship Id="rIdSlide14" Type="http://schemas.openxmlformats.org/officeDocument/2006/relationships/slide" Target="slides/slide1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stripe_top"/>
          <p:cNvSpPr/>
          <p:nvPr/>
        </p:nvSpPr>
        <p:spPr>
          <a:xfrm>
            <a:off x="0" y="0"/>
            <a:ext cx="12192000" cy="21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4" name="left_bar"/>
          <p:cNvSpPr/>
          <p:nvPr/>
        </p:nvSpPr>
        <p:spPr>
          <a:xfrm>
            <a:off x="540000" y="1080000"/>
            <a:ext cx="54000" cy="180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5" name="terminal_box"/>
          <p:cNvSpPr/>
          <p:nvPr/>
        </p:nvSpPr>
        <p:spPr>
          <a:xfrm>
            <a:off x="1080000" y="900000"/>
            <a:ext cx="1260000" cy="720000"/>
          </a:xfrm>
          <a:prstGeom prst="roundRect">
            <a:avLst>
              <a:gd name="adj" fmla="val 10000"/>
            </a:avLst>
          </a:prstGeom>
          <a:solidFill>
            <a:srgbClr val="0F3460">
              <a:alpha val="80000"/>
            </a:srgbClr>
          </a:solidFill>
          <a:ln>
            <a:noFill/>
          </a:ln>
        </p:spPr>
      </p:sp>
      <p:sp>
        <p:nvSpPr>
          <p:cNvPr id="6" name="terminal_text"/>
          <p:cNvSpPr/>
          <p:nvPr/>
        </p:nvSpPr>
        <p:spPr>
          <a:xfrm>
            <a:off x="1188000" y="1007999"/>
            <a:ext cx="1080000" cy="54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600" dirty="0">
                <a:solidFill>
                  <a:srgbClr val="00D2FF"/>
                </a:solidFill>
                <a:latin typeface="Consolas"/>
                <a:ea typeface="Consolas"/>
              </a:rPr>
              <a:t>$ claude</a:t>
            </a:r>
          </a:p>
          <a:p>
            <a:pPr algn="l"/>
            <a:r>
              <a:rPr lang="ja-JP" sz="1200" dirty="0">
                <a:solidFill>
                  <a:srgbClr val="B0B0B0"/>
                </a:solidFill>
                <a:latin typeface="Consolas"/>
                <a:ea typeface="Consolas"/>
              </a:rPr>
              <a:t>&gt; Ready to assist...</a:t>
            </a:r>
          </a:p>
        </p:txBody>
      </p:sp>
      <p:sp>
        <p:nvSpPr>
          <p:cNvPr id="7" name="title"/>
          <p:cNvSpPr/>
          <p:nvPr/>
        </p:nvSpPr>
        <p:spPr>
          <a:xfrm>
            <a:off x="1800000" y="1260000"/>
            <a:ext cx="7200000" cy="108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3600" b="1" dirty="0">
                <a:solidFill>
                  <a:srgbClr val="FFFFFF"/>
                </a:solidFill>
                <a:latin typeface="Meiryo UI"/>
                <a:ea typeface="Meiryo UI"/>
              </a:rPr>
              <a:t>Claude Code 使い方ガイド</a:t>
            </a:r>
          </a:p>
        </p:txBody>
      </p:sp>
      <p:sp>
        <p:nvSpPr>
          <p:cNvPr id="8" name="subtitle"/>
          <p:cNvSpPr/>
          <p:nvPr/>
        </p:nvSpPr>
        <p:spPr>
          <a:xfrm>
            <a:off x="1800000" y="2160000"/>
            <a:ext cx="7200000" cy="72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800" dirty="0">
                <a:solidFill>
                  <a:srgbClr val="00D2FF"/>
                </a:solidFill>
                <a:latin typeface="Meiryo UI"/>
                <a:ea typeface="Meiryo UI"/>
              </a:rPr>
              <a:t>Anthropic公式 エージェント型AIコーディングツール</a:t>
            </a:r>
          </a:p>
        </p:txBody>
      </p:sp>
      <p:sp>
        <p:nvSpPr>
          <p:cNvPr id="9" name="footer"/>
          <p:cNvSpPr/>
          <p:nvPr/>
        </p:nvSpPr>
        <p:spPr>
          <a:xfrm>
            <a:off x="1800000" y="3240000"/>
            <a:ext cx="7200000" cy="54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dirty="0">
                <a:solidFill>
                  <a:srgbClr val="B0B0B0"/>
                </a:solidFill>
                <a:latin typeface="Meiryo UI"/>
                <a:ea typeface="Meiryo UI"/>
              </a:rPr>
              <a:t>2026年版 完全ガイド</a:t>
            </a:r>
          </a:p>
        </p:txBody>
      </p:sp>
      <p:sp>
        <p:nvSpPr>
          <p:cNvPr id="10" name="bottom_line"/>
          <p:cNvSpPr/>
          <p:nvPr/>
        </p:nvSpPr>
        <p:spPr>
          <a:xfrm>
            <a:off x="2880000" y="3960000"/>
            <a:ext cx="6480000" cy="3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02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Claude Code とは？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概要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Anthropicが提供するターミナルベースのエージェント型AIコーディングツール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自律実行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コード理解・編集・テスト・Git操作を自然言語の指示だけで自律的に実行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透明性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実行計画を事前に提示し、各ステップの進捗をリアルタイムで表示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統合性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VS Code / JetBrains / ターミナル / GitHub / Web で利用可能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2 / 14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03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インストール方法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ネイティブ版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claude.com/download からダウンロード（推奨・自動更新対応）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npm版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npm install -g @anthropic-ai/claude-code（Node.js v18以上が必要）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Web版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claude.ai/code からブラウザで直接利用可能（インストール不要）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起動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ターミナルでプロジェクトディレクトリに移動し claude と入力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3 / 14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04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基本的な使い方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対話モード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 と入力して対話的にコーディング指示を出す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ワンショット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 -p "指示内容" でパイプラインや単発実行が可能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パイプ入力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cat file.py | claude -p "このコードをレビューして"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モデル選択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Opus 4.6（高性能） / Sonnet 4.6（バランス） / Haiku（高速）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4 / 14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05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主要なスラッシュコマンド (1/2)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/init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CLAUDE.mdファイルを自動生成しプロジェクトを初期化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/compact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会話履歴を要約してコンテキストウィンドウを節約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/commit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差分を分析してConventional Commitsメッセージを自動生成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/review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Pull Requestのコードレビューを実行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5 / 14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06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主要なスラッシュコマンド (2/2)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/help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利用可能なコマンド一覧と使い方を表示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/cost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現在のセッションのトークン使用量・コストを表示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/model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使用するモデルを切り替え（Opus / Sonnet / Haiku）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/clear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会話履歴をクリアして新しいセッションを開始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6 / 14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07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CLAUDE.md による設定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役割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プロジェクトのルール・慣習・コンテキストをClaudeに伝える設定ファイル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配置場所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プロジェクトルート / ~/.claude/ / サブディレクトリ（階層的に読み込み）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記載内容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コーディング規約、テストコマンド、アーキテクチャ概要、禁止事項など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チーム共有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Gitにコミットすることでチーム全体でルールを共有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7 / 14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08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権限モードとセキュリティ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デフォルト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すべてのアクションに確認を求める安全なモード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acceptEdits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ファイル編集は自動承認、コマンド実行は確認を求める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allowlist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settings.json で許可/拒否するコマンドを細かく制御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サンドボックス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OS レベルのファイルシステム・ネットワーク分離で安全に実行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8 / 14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09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IDE連携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VS Code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公式拡張機能でエディタ内にClaude Codeパネルを統合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JetBrains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IntelliJ / WebStorm / PyCharm 等のプラグイン（v2025.2+）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GitHub Actions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CI/CDパイプラインでPR自動作成・レビュー・Issue対応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デスクトップ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デスクトップアプリで複数セッションを並行管理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9 / 14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10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MCP サーバー連携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MCP とは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Model Context Protocol - AI と外部ツールの統合オープン規格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設定方法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 mcp add &lt;name&gt; &lt;command&gt; で簡単に追加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活用例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GitHub / Slack / DB / API / ファイルシステム等との接続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スコープ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プロジェクト単位 / ユーザー単位で設定・共有が可能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10 / 14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11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エージェント型ワークフロー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3フェーズ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情報収集 → アクション実行 → 結果検証 の自律的なループ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サブエージェント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最大10の並列ワーカーで複雑なタスクを分担実行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自動修正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テスト失敗時に原因を分析し自動で修正を試行・再実行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Git一気通貫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ブランチ作成・コード変更・テスト・コミット・PR作成まで自動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11 / 14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12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ベストプラクティス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ゴール指向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技術的な指示より「何を達成したいか」を伝える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CLAUDE.md活用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/init でプロジェクト固有のルールを設定・チーム共有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段階的依頼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大きなタスクは段階的に分割して依頼・検証する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コンテキスト管理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/compact で会話を圧縮し、長時間セッションを効率化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12 / 14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header_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4" name="accent_line"/>
          <p:cNvSpPr/>
          <p:nvPr/>
        </p:nvSpPr>
        <p:spPr>
          <a:xfrm>
            <a:off x="0" y="900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" name="slide_num"/>
          <p:cNvSpPr/>
          <p:nvPr/>
        </p:nvSpPr>
        <p:spPr>
          <a:xfrm>
            <a:off x="360000" y="108000"/>
            <a:ext cx="720000" cy="5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1400" b="1" dirty="0">
                <a:solidFill>
                  <a:srgbClr val="E94560"/>
                </a:solidFill>
                <a:latin typeface="Meiryo UI"/>
                <a:ea typeface="Meiryo UI"/>
              </a:rPr>
              <a:t>13</a:t>
            </a:r>
          </a:p>
        </p:txBody>
      </p:sp>
      <p:sp>
        <p:nvSpPr>
          <p:cNvPr id="6" name="title"/>
          <p:cNvSpPr/>
          <p:nvPr/>
        </p:nvSpPr>
        <p:spPr>
          <a:xfrm>
            <a:off x="1080000" y="144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ja-JP" sz="2800" b="1" dirty="0">
                <a:solidFill>
                  <a:srgbClr val="FFFFFF"/>
                </a:solidFill>
                <a:latin typeface="Meiryo UI"/>
                <a:ea typeface="Meiryo UI"/>
              </a:rPr>
              <a:t>活用シーン</a:t>
            </a:r>
          </a:p>
        </p:txBody>
      </p:sp>
      <p:sp>
        <p:nvSpPr>
          <p:cNvPr id="7" name="card_0"/>
          <p:cNvSpPr/>
          <p:nvPr/>
        </p:nvSpPr>
        <p:spPr>
          <a:xfrm>
            <a:off x="540000" y="1152000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8" name="bar_0"/>
          <p:cNvSpPr/>
          <p:nvPr/>
        </p:nvSpPr>
        <p:spPr>
          <a:xfrm>
            <a:off x="540000" y="1152000"/>
            <a:ext cx="43200" cy="89999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_0"/>
          <p:cNvSpPr/>
          <p:nvPr/>
        </p:nvSpPr>
        <p:spPr>
          <a:xfrm>
            <a:off x="900000" y="1224000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E94560"/>
                </a:solidFill>
                <a:latin typeface="Meiryo UI"/>
                <a:ea typeface="Meiryo UI"/>
              </a:rPr>
              <a:t>バグ修正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エラーログを貼り付けて原因分析から修正まで一括で依頼</a:t>
            </a:r>
          </a:p>
        </p:txBody>
      </p:sp>
      <p:sp>
        <p:nvSpPr>
          <p:cNvPr id="10" name="card_1"/>
          <p:cNvSpPr/>
          <p:nvPr/>
        </p:nvSpPr>
        <p:spPr>
          <a:xfrm>
            <a:off x="540000" y="2159999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1" name="bar_1"/>
          <p:cNvSpPr/>
          <p:nvPr/>
        </p:nvSpPr>
        <p:spPr>
          <a:xfrm>
            <a:off x="540000" y="2159999"/>
            <a:ext cx="43200" cy="899999"/>
          </a:xfrm>
          <a:prstGeom prst="rect">
            <a:avLst/>
          </a:prstGeom>
          <a:solidFill>
            <a:srgbClr val="00D2FF"/>
          </a:solidFill>
          <a:ln>
            <a:noFill/>
          </a:ln>
        </p:spPr>
      </p:sp>
      <p:sp>
        <p:nvSpPr>
          <p:cNvPr id="12" name="text_1"/>
          <p:cNvSpPr/>
          <p:nvPr/>
        </p:nvSpPr>
        <p:spPr>
          <a:xfrm>
            <a:off x="900000" y="2231999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00D2FF"/>
                </a:solidFill>
                <a:latin typeface="Meiryo UI"/>
                <a:ea typeface="Meiryo UI"/>
              </a:rPr>
              <a:t>新機能開発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要件を伝えてコード生成・テスト作成・PR作成まで自動実行</a:t>
            </a:r>
          </a:p>
        </p:txBody>
      </p:sp>
      <p:sp>
        <p:nvSpPr>
          <p:cNvPr id="13" name="card_2"/>
          <p:cNvSpPr/>
          <p:nvPr/>
        </p:nvSpPr>
        <p:spPr>
          <a:xfrm>
            <a:off x="540000" y="3167998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4" name="bar_2"/>
          <p:cNvSpPr/>
          <p:nvPr/>
        </p:nvSpPr>
        <p:spPr>
          <a:xfrm>
            <a:off x="540000" y="3167998"/>
            <a:ext cx="43200" cy="899999"/>
          </a:xfrm>
          <a:prstGeom prst="rect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5" name="text_2"/>
          <p:cNvSpPr/>
          <p:nvPr/>
        </p:nvSpPr>
        <p:spPr>
          <a:xfrm>
            <a:off x="900000" y="3239998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A855F7"/>
                </a:solidFill>
                <a:latin typeface="Meiryo UI"/>
                <a:ea typeface="Meiryo UI"/>
              </a:rPr>
              <a:t>リファクタリング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既存コードの改善・TypeScript移行・モダン化を自律実行</a:t>
            </a:r>
          </a:p>
        </p:txBody>
      </p:sp>
      <p:sp>
        <p:nvSpPr>
          <p:cNvPr id="16" name="card_3"/>
          <p:cNvSpPr/>
          <p:nvPr/>
        </p:nvSpPr>
        <p:spPr>
          <a:xfrm>
            <a:off x="540000" y="4175997"/>
            <a:ext cx="10800000" cy="899999"/>
          </a:xfrm>
          <a:prstGeom prst="roundRect">
            <a:avLst>
              <a:gd name="adj" fmla="val 10000"/>
            </a:avLst>
          </a:prstGeom>
          <a:solidFill>
            <a:srgbClr val="16213E">
              <a:alpha val="60000"/>
            </a:srgbClr>
          </a:solidFill>
          <a:ln>
            <a:noFill/>
          </a:ln>
        </p:spPr>
      </p:sp>
      <p:sp>
        <p:nvSpPr>
          <p:cNvPr id="17" name="bar_3"/>
          <p:cNvSpPr/>
          <p:nvPr/>
        </p:nvSpPr>
        <p:spPr>
          <a:xfrm>
            <a:off x="540000" y="4175997"/>
            <a:ext cx="43200" cy="899999"/>
          </a:xfrm>
          <a:prstGeom prst="rect">
            <a:avLst/>
          </a:prstGeom>
          <a:solidFill>
            <a:srgbClr val="FFD700"/>
          </a:solidFill>
          <a:ln>
            <a:noFill/>
          </a:ln>
        </p:spPr>
      </p:sp>
      <p:sp>
        <p:nvSpPr>
          <p:cNvPr id="18" name="text_3"/>
          <p:cNvSpPr/>
          <p:nvPr/>
        </p:nvSpPr>
        <p:spPr>
          <a:xfrm>
            <a:off x="900000" y="4247997"/>
            <a:ext cx="10080000" cy="827999"/>
          </a:xfrm>
          <a:prstGeom prst="rect">
            <a:avLst/>
          </a:prstGeom>
        </p:spPr>
        <p:txBody>
          <a:bodyPr wrap="square" anchor="ctr"/>
          <a:lstStyle/>
          <a:p>
            <a:pPr algn="l">
              <a:spcBef>
                <a:spcPts val="200"/>
              </a:spcBef>
            </a:pPr>
            <a:r>
              <a:rPr lang="ja-JP" sz="1600" b="1" dirty="0">
                <a:solidFill>
                  <a:srgbClr val="FFD700"/>
                </a:solidFill>
                <a:latin typeface="Meiryo UI"/>
                <a:ea typeface="Meiryo UI"/>
              </a:rPr>
              <a:t>コードレビュー    </a:t>
            </a:r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/review でPRの品質チェックとレビューコメントを自動生成</a:t>
            </a:r>
          </a:p>
        </p:txBody>
      </p:sp>
      <p:sp>
        <p:nvSpPr>
          <p:cNvPr id="19" name="footer_line"/>
          <p:cNvSpPr/>
          <p:nvPr/>
        </p:nvSpPr>
        <p:spPr>
          <a:xfrm>
            <a:off x="540000" y="6498000"/>
            <a:ext cx="10800000" cy="1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</p:sp>
      <p:sp>
        <p:nvSpPr>
          <p:cNvPr id="20" name="page_num"/>
          <p:cNvSpPr/>
          <p:nvPr/>
        </p:nvSpPr>
        <p:spPr>
          <a:xfrm>
            <a:off x="9720000" y="6534000"/>
            <a:ext cx="1800000" cy="288000"/>
          </a:xfrm>
          <a:prstGeom prst="rect">
            <a:avLst/>
          </a:prstGeom>
        </p:spPr>
        <p:txBody>
          <a:bodyPr wrap="square" anchor="t"/>
          <a:lstStyle/>
          <a:p>
            <a:pPr algn="r"/>
            <a:r>
              <a:rPr lang="ja-JP" sz="1000" dirty="0">
                <a:solidFill>
                  <a:srgbClr val="B0B0B0"/>
                </a:solidFill>
                <a:latin typeface="Meiryo UI"/>
                <a:ea typeface="Meiryo UI"/>
              </a:rPr>
              <a:t>13 / 14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</p:sp>
      <p:sp>
        <p:nvSpPr>
          <p:cNvPr id="3" name="top_accent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4" name="title_bg"/>
          <p:cNvSpPr/>
          <p:nvPr/>
        </p:nvSpPr>
        <p:spPr>
          <a:xfrm>
            <a:off x="0" y="36000"/>
            <a:ext cx="12192000" cy="900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720000" y="108000"/>
            <a:ext cx="10440000" cy="72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3200" b="1" dirty="0">
                <a:solidFill>
                  <a:srgbClr val="FFFFFF"/>
                </a:solidFill>
                <a:latin typeface="Meiryo UI"/>
                <a:ea typeface="Meiryo UI"/>
              </a:rPr>
              <a:t>まとめ</a:t>
            </a:r>
          </a:p>
        </p:txBody>
      </p:sp>
      <p:sp>
        <p:nvSpPr>
          <p:cNvPr id="6" name="accent_line"/>
          <p:cNvSpPr/>
          <p:nvPr/>
        </p:nvSpPr>
        <p:spPr>
          <a:xfrm>
            <a:off x="0" y="936000"/>
            <a:ext cx="12192000" cy="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7" name="num_0"/>
          <p:cNvSpPr/>
          <p:nvPr/>
        </p:nvSpPr>
        <p:spPr>
          <a:xfrm>
            <a:off x="720000" y="126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</p:sp>
      <p:sp>
        <p:nvSpPr>
          <p:cNvPr id="8" name="num_text_0"/>
          <p:cNvSpPr/>
          <p:nvPr/>
        </p:nvSpPr>
        <p:spPr>
          <a:xfrm>
            <a:off x="720000" y="126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1A1A2E"/>
                </a:solidFill>
                <a:latin typeface="Meiryo UI"/>
                <a:ea typeface="Meiryo UI"/>
              </a:rPr>
              <a:t>1</a:t>
            </a:r>
          </a:p>
        </p:txBody>
      </p:sp>
      <p:sp>
        <p:nvSpPr>
          <p:cNvPr id="9" name="point_0"/>
          <p:cNvSpPr/>
          <p:nvPr/>
        </p:nvSpPr>
        <p:spPr>
          <a:xfrm>
            <a:off x="1260000" y="126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 Code はターミナルで動作するエージェント型AIコーディングツール</a:t>
            </a:r>
          </a:p>
        </p:txBody>
      </p:sp>
      <p:sp>
        <p:nvSpPr>
          <p:cNvPr id="10" name="num_1"/>
          <p:cNvSpPr/>
          <p:nvPr/>
        </p:nvSpPr>
        <p:spPr>
          <a:xfrm>
            <a:off x="720000" y="198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E94560"/>
          </a:solidFill>
          <a:ln>
            <a:noFill/>
          </a:ln>
        </p:spPr>
      </p:sp>
      <p:sp>
        <p:nvSpPr>
          <p:cNvPr id="11" name="num_text_1"/>
          <p:cNvSpPr/>
          <p:nvPr/>
        </p:nvSpPr>
        <p:spPr>
          <a:xfrm>
            <a:off x="720000" y="198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1A1A2E"/>
                </a:solidFill>
                <a:latin typeface="Meiryo UI"/>
                <a:ea typeface="Meiryo UI"/>
              </a:rPr>
              <a:t>2</a:t>
            </a:r>
          </a:p>
        </p:txBody>
      </p:sp>
      <p:sp>
        <p:nvSpPr>
          <p:cNvPr id="12" name="point_1"/>
          <p:cNvSpPr/>
          <p:nvPr/>
        </p:nvSpPr>
        <p:spPr>
          <a:xfrm>
            <a:off x="1260000" y="198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自然言語で指示するだけで、コードの編集・テスト・Git操作を自律的に実行</a:t>
            </a:r>
          </a:p>
        </p:txBody>
      </p:sp>
      <p:sp>
        <p:nvSpPr>
          <p:cNvPr id="13" name="num_2"/>
          <p:cNvSpPr/>
          <p:nvPr/>
        </p:nvSpPr>
        <p:spPr>
          <a:xfrm>
            <a:off x="720000" y="270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>
            <a:noFill/>
          </a:ln>
        </p:spPr>
      </p:sp>
      <p:sp>
        <p:nvSpPr>
          <p:cNvPr id="14" name="num_text_2"/>
          <p:cNvSpPr/>
          <p:nvPr/>
        </p:nvSpPr>
        <p:spPr>
          <a:xfrm>
            <a:off x="720000" y="270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1A1A2E"/>
                </a:solidFill>
                <a:latin typeface="Meiryo UI"/>
                <a:ea typeface="Meiryo UI"/>
              </a:rPr>
              <a:t>3</a:t>
            </a:r>
          </a:p>
        </p:txBody>
      </p:sp>
      <p:sp>
        <p:nvSpPr>
          <p:cNvPr id="15" name="point_2"/>
          <p:cNvSpPr/>
          <p:nvPr/>
        </p:nvSpPr>
        <p:spPr>
          <a:xfrm>
            <a:off x="1260000" y="270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CLAUDE.md でプロジェクトルールを設定し、チーム全体で一貫した動作を実現</a:t>
            </a:r>
          </a:p>
        </p:txBody>
      </p:sp>
      <p:sp>
        <p:nvSpPr>
          <p:cNvPr id="16" name="num_3"/>
          <p:cNvSpPr/>
          <p:nvPr/>
        </p:nvSpPr>
        <p:spPr>
          <a:xfrm>
            <a:off x="720000" y="342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>
            <a:noFill/>
          </a:ln>
        </p:spPr>
      </p:sp>
      <p:sp>
        <p:nvSpPr>
          <p:cNvPr id="17" name="num_text_3"/>
          <p:cNvSpPr/>
          <p:nvPr/>
        </p:nvSpPr>
        <p:spPr>
          <a:xfrm>
            <a:off x="720000" y="342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1A1A2E"/>
                </a:solidFill>
                <a:latin typeface="Meiryo UI"/>
                <a:ea typeface="Meiryo UI"/>
              </a:rPr>
              <a:t>4</a:t>
            </a:r>
          </a:p>
        </p:txBody>
      </p:sp>
      <p:sp>
        <p:nvSpPr>
          <p:cNvPr id="18" name="point_3"/>
          <p:cNvSpPr/>
          <p:nvPr/>
        </p:nvSpPr>
        <p:spPr>
          <a:xfrm>
            <a:off x="1260000" y="342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VS Code / JetBrains / GitHub Actions との連携で開発フロー全体をカバー</a:t>
            </a:r>
          </a:p>
        </p:txBody>
      </p:sp>
      <p:sp>
        <p:nvSpPr>
          <p:cNvPr id="19" name="num_4"/>
          <p:cNvSpPr/>
          <p:nvPr/>
        </p:nvSpPr>
        <p:spPr>
          <a:xfrm>
            <a:off x="720000" y="4140000"/>
            <a:ext cx="288000" cy="2880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</p:sp>
      <p:sp>
        <p:nvSpPr>
          <p:cNvPr id="20" name="num_text_4"/>
          <p:cNvSpPr/>
          <p:nvPr/>
        </p:nvSpPr>
        <p:spPr>
          <a:xfrm>
            <a:off x="720000" y="4140000"/>
            <a:ext cx="288000" cy="288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1A1A2E"/>
                </a:solidFill>
                <a:latin typeface="Meiryo UI"/>
                <a:ea typeface="Meiryo UI"/>
              </a:rPr>
              <a:t>5</a:t>
            </a:r>
          </a:p>
        </p:txBody>
      </p:sp>
      <p:sp>
        <p:nvSpPr>
          <p:cNvPr id="21" name="point_4"/>
          <p:cNvSpPr/>
          <p:nvPr/>
        </p:nvSpPr>
        <p:spPr>
          <a:xfrm>
            <a:off x="1260000" y="4140000"/>
            <a:ext cx="9720000" cy="432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ja-JP" sz="1400" dirty="0">
                <a:solidFill>
                  <a:srgbClr val="E0E0E0"/>
                </a:solidFill>
                <a:latin typeface="Meiryo UI"/>
                <a:ea typeface="Meiryo UI"/>
              </a:rPr>
              <a:t>サブエージェント・MCP連携で、複雑なタスクも効率的に処理</a:t>
            </a:r>
          </a:p>
        </p:txBody>
      </p:sp>
      <p:sp>
        <p:nvSpPr>
          <p:cNvPr id="22" name="bottom_bar"/>
          <p:cNvSpPr/>
          <p:nvPr/>
        </p:nvSpPr>
        <p:spPr>
          <a:xfrm>
            <a:off x="0" y="6426000"/>
            <a:ext cx="12192000" cy="43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</p:sp>
      <p:sp>
        <p:nvSpPr>
          <p:cNvPr id="23" name="footer_text"/>
          <p:cNvSpPr/>
          <p:nvPr/>
        </p:nvSpPr>
        <p:spPr>
          <a:xfrm>
            <a:off x="720000" y="6462000"/>
            <a:ext cx="10440000" cy="36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ja-JP" sz="1200" b="1" dirty="0">
                <a:solidFill>
                  <a:srgbClr val="00D2FF"/>
                </a:solidFill>
                <a:latin typeface="Meiryo UI"/>
                <a:ea typeface="Meiryo UI"/>
              </a:rPr>
              <a:t>Claude Code</a:t>
            </a:r>
            <a:r>
              <a:rPr lang="ja-JP" sz="1200" dirty="0">
                <a:solidFill>
                  <a:srgbClr val="B0B0B0"/>
                </a:solidFill>
                <a:latin typeface="Meiryo UI"/>
                <a:ea typeface="Meiryo UI"/>
              </a:rPr>
              <a:t>  -  Start coding with AI today</a:t>
            </a:r>
          </a:p>
        </p:txBody>
      </p:sp>
    </p:spTree>
  </p:cSld>
</p:sld>
</file>

<file path=ppt/theme/theme1.xml><?xml version="1.0" encoding="utf-8"?>
<a:theme xmlns:a="http://schemas.openxmlformats.org/drawingml/2006/main" name="ClaudeTheme">
  <a:themeElements>
    <a:clrScheme name="Claude">
      <a:dk1>
        <a:srgbClr val="1A1A2E"/>
      </a:dk1>
      <a:lt1>
        <a:srgbClr val="FFFFFF"/>
      </a:lt1>
      <a:dk2>
        <a:srgbClr val="16213E"/>
      </a:dk2>
      <a:lt2>
        <a:srgbClr val="E0E0E0"/>
      </a:lt2>
      <a:accent1>
        <a:srgbClr val="E94560"/>
      </a:accent1>
      <a:accent2>
        <a:srgbClr val="0F3460"/>
      </a:accent2>
      <a:accent3>
        <a:srgbClr val="00D2FF"/>
      </a:accent3>
      <a:accent4>
        <a:srgbClr val="A855F7"/>
      </a:accent4>
      <a:accent5>
        <a:srgbClr val="FFD700"/>
      </a:accent5>
      <a:accent6>
        <a:srgbClr val="10B981"/>
      </a:accent6>
      <a:hlink>
        <a:srgbClr val="00D2FF"/>
      </a:hlink>
      <a:folHlink>
        <a:srgbClr val="A855F7"/>
      </a:folHlink>
    </a:clrScheme>
    <a:fontScheme name="Claud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laud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